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0152" cy="4572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ACADEMIC PROJECT PRESENTATION  •  SOFTWARE TESTING LAB (ISWE305P)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RENTAL WHEELS</a:t>
            </a:r>
          </a:p>
          <a:p>
            <a:pPr>
              <a:spcBef>
                <a:spcPts val="600"/>
              </a:spcBef>
              <a:defRPr sz="2200" b="1">
                <a:solidFill>
                  <a:srgbClr val="7DD3FC"/>
                </a:solidFill>
                <a:latin typeface="Calibri"/>
              </a:defRPr>
            </a:pPr>
            <a:r>
              <a:t>Full-Stack Vehicle Reservation &amp; Fleet Management Platform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Comprehensive Automated UI, Functional &amp; Security Testing with 150 Selenium WebDriver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0152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Project Team &amp; Academic Submission Details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Presented By: Student Name | Register No: [Your Register Number] | Slot: L11+L12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Department: School of Computer Science &amp; Engineering (SCORE) | Course: Software Testing</a:t>
            </a:r>
          </a:p>
          <a:p>
            <a:pPr>
              <a:spcBef>
                <a:spcPts val="600"/>
              </a:spcBef>
              <a:defRPr sz="1100" b="1">
                <a:solidFill>
                  <a:srgbClr val="A7F3D0"/>
                </a:solidFill>
                <a:latin typeface="Calibri"/>
              </a:defRPr>
            </a:pPr>
            <a:r>
              <a:t>Technology Stack: Python 3.14 • Flask REST API • MongoDB • HTML5/Tailwind CSS • Selenium WebDriver 4.18+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Executive Summary &amp; Problem Formulation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Bridging the gap between manual car rental operations and automated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591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 rIns="274320"/>
          <a:lstStyle/>
          <a:p>
            <a:pPr algn="ctr">
              <a:defRPr sz="1400" b="1">
                <a:solidFill>
                  <a:srgbClr val="DC2626"/>
                </a:solidFill>
                <a:latin typeface="Calibri"/>
              </a:defRPr>
            </a:pPr>
            <a:r>
              <a:t>The Industry Problem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Traditional vehicle rental workflows rely on fragmented paperwork, spreadsheet reservations, and manual document checks. This causes frequent double-booking anomalies, unverified customer driving licenses, billing disputes over unexpected return damage, and high operational latency across branch pickup counters.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09728" cy="1143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72591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 rIns="274320"/>
          <a:lstStyle/>
          <a:p>
            <a:pPr algn="ctr">
              <a:defRPr sz="1400" b="1">
                <a:solidFill>
                  <a:srgbClr val="0E7490"/>
                </a:solidFill>
                <a:latin typeface="Calibri"/>
              </a:defRPr>
            </a:pPr>
            <a:r>
              <a:t>The Rental Wheels Solution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A unified full-stack digital web platform that seamlessly bridges Customers, Branch Desk Agents, and Fleet Managers. It features real-time catalog discovery, dynamic daily rate computation, automated customer driving license KYC verification, multi-channel checkout (Card, UPI, Net Banking), and automated return inspection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109728" cy="11430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591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 rIns="274320"/>
          <a:lstStyle/>
          <a:p>
            <a:pPr algn="ctr">
              <a:defRPr sz="1400" b="1">
                <a:solidFill>
                  <a:srgbClr val="047857"/>
                </a:solidFill>
                <a:latin typeface="Calibri"/>
              </a:defRPr>
            </a:pPr>
            <a:r>
              <a:t>Automated Quality Assurance Focus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Manual testing cannot scale across complex booking workflows. We implemented an exhaustive Selenium WebDriver automation suite containing 150 test cases across 15 suites. The tests simulate authentic end-user browser behavior, rigorous boundary validation, edge case rejection, and multi-role access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109728" cy="11430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Project Objectives &amp; Scope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Defined development milestones and automated testing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>
              <a:defRPr sz="1500" b="1">
                <a:solidFill>
                  <a:srgbClr val="0E7490"/>
                </a:solidFill>
                <a:latin typeface="Calibri"/>
              </a:defRPr>
            </a:pPr>
            <a:r>
              <a:t>🎯 System Engineering Objectives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Multi-Role Architecture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Develop dedicated portals for Customers, Branch Staff Agents, and Fleet Administrators with Role-Based Access Control (RBAC).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Secure Authentication &amp; 2FA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Implement bcrypt credential hashing, stateless JWT session tokens, and a simulated 6-digit OTP verification modal.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Automated KYC Verification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Build a customer driving license upload and validation flow that enforces mandatory KYC approval before vehicle reservation.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Dynamic Booking Engine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Provide real-time vehicle discovery with dynamic date picker calculations, add-on pricing (GPS, Child Seat, Insurance), and coupon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3951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>
              <a:defRPr sz="1500" b="1">
                <a:solidFill>
                  <a:srgbClr val="4338CA"/>
                </a:solidFill>
                <a:latin typeface="Calibri"/>
              </a:defRPr>
            </a:pPr>
            <a:r>
              <a:t>🧪 Software Testing Objectives</a:t>
            </a:r>
          </a:p>
          <a:p>
            <a:pPr>
              <a:spcBef>
                <a:spcPts val="800"/>
              </a:spcBef>
              <a:defRPr sz="1150" b="1">
                <a:solidFill>
                  <a:srgbClr val="047857"/>
                </a:solidFill>
                <a:latin typeface="Calibri"/>
              </a:defRPr>
            </a:pPr>
            <a:r>
              <a:t>✔ 150 Automated Test Cases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Architect 15 modular test suites covering end-to-end user journeys, role boundaries, and transactional state updates.</a:t>
            </a:r>
          </a:p>
          <a:p>
            <a:pPr>
              <a:spcBef>
                <a:spcPts val="800"/>
              </a:spcBef>
              <a:defRPr sz="1150" b="1">
                <a:solidFill>
                  <a:srgbClr val="047857"/>
                </a:solidFill>
                <a:latin typeface="Calibri"/>
              </a:defRPr>
            </a:pPr>
            <a:r>
              <a:t>✔ Negative &amp; Boundary Analysis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Rigidly test boundary date ranges, 16-digit card limits, invalid OTP codes, expired promo codes, and unauthorized URLs.</a:t>
            </a:r>
          </a:p>
          <a:p>
            <a:pPr>
              <a:spcBef>
                <a:spcPts val="800"/>
              </a:spcBef>
              <a:defRPr sz="1150" b="1">
                <a:solidFill>
                  <a:srgbClr val="047857"/>
                </a:solidFill>
                <a:latin typeface="Calibri"/>
              </a:defRPr>
            </a:pPr>
            <a:r>
              <a:t>✔ Staff Inspection &amp; Maintenance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Automate verification of branch vehicle handovers, checklist notes, extra return damage charges, and servicing flags.</a:t>
            </a:r>
          </a:p>
          <a:p>
            <a:pPr>
              <a:spcBef>
                <a:spcPts val="800"/>
              </a:spcBef>
              <a:defRPr sz="1150" b="1">
                <a:solidFill>
                  <a:srgbClr val="047857"/>
                </a:solidFill>
                <a:latin typeface="Calibri"/>
              </a:defRPr>
            </a:pPr>
            <a:r>
              <a:t>✔ Cross-Viewport UI Integrity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   Validate responsive rendering across Desktop (1280px), Tablet (768px), and Mobile (375px) viewports with zero layout breakage.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Core System Modules &amp; Multi-Role Architecture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Specialized modular capabilities for Customers, Branch Staff, and Fleet Administrators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45920"/>
            <a:ext cx="475488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1. Customer Self-Service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Enables prospective renters to explore available vehicle models, filter by category/fuel/transmission, compute rental pricing, book add-on equipment, and manage past and active trip reservations.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754880" cy="3657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2. Authentication &amp; KYC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Provides secure registration, bcrypt password encryption, JWT authorization, 6-digit OTP verification, and customer driving license upload with administrative approval/rejection state machines.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3931919"/>
            <a:ext cx="475488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3. Branch Staff Operations 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8911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Empowers desk agents to manage pickup handover queues, inspect returning vehicles, log odometer readings and fuel levels, record damage notes, and compute extra overdue/cleaning charges.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19"/>
            <a:ext cx="47548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4. Fleet Administration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1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Provides executive oversight across all branch locations: add/update vehicles, configure daily rates and security deposits, track live booking statuses, review KYC queues, and manage maintenance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Advanced Booking &amp; Multi-Channel Payment Lifecycle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End-to-end customer journey from vehicle discovery to digital invoice receipt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591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/>
          <a:lstStyle/>
          <a:p>
            <a:pPr algn="ctr">
              <a:defRPr sz="1200" b="1">
                <a:solidFill>
                  <a:srgbClr val="0E7490"/>
                </a:solidFill>
                <a:latin typeface="Calibri"/>
              </a:defRPr>
            </a:pPr>
            <a:r>
              <a:t>Step 1: Vehicle Discovery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Customer filters catalog by class (SUV, Sedan, EV), fuel type, and price range slider. Inspects specifications and daily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2591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/>
          <a:lstStyle/>
          <a:p>
            <a:pPr algn="ctr">
              <a:defRPr sz="1200" b="1">
                <a:solidFill>
                  <a:srgbClr val="0E7490"/>
                </a:solidFill>
                <a:latin typeface="Calibri"/>
              </a:defRPr>
            </a:pPr>
            <a:r>
              <a:t>Step 2: Date Scheduling &amp; Add-ons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Customer selects pickup and return dates with automatic rental duration calculation. Selects add-on options (GPS, Insurance, Child Seat).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591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/>
          <a:lstStyle/>
          <a:p>
            <a:pPr algn="ctr">
              <a:defRPr sz="1200" b="1">
                <a:solidFill>
                  <a:srgbClr val="0E7490"/>
                </a:solidFill>
                <a:latin typeface="Calibri"/>
              </a:defRPr>
            </a:pPr>
            <a:r>
              <a:t>Step 3: Promo &amp; Price Estimation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System validates promotional coupon codes, calculates net rental charges plus refundable security deposit, and creates pending booking.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72591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/>
          <a:lstStyle/>
          <a:p>
            <a:pPr algn="ctr">
              <a:defRPr sz="1200" b="1">
                <a:solidFill>
                  <a:srgbClr val="0E7490"/>
                </a:solidFill>
                <a:latin typeface="Calibri"/>
              </a:defRPr>
            </a:pPr>
            <a:r>
              <a:t>Step 4: Multi-Channel Checkout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Customer selects preferred payment method: Credit/Debit Card, UPI / QR, or Net Banking. Input validation enforces 16-digit card limit and CVV masking.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72591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/>
          <a:lstStyle/>
          <a:p>
            <a:pPr algn="ctr">
              <a:defRPr sz="1200" b="1">
                <a:solidFill>
                  <a:srgbClr val="0E7490"/>
                </a:solidFill>
                <a:latin typeface="Calibri"/>
              </a:defRPr>
            </a:pPr>
            <a:r>
              <a:t>Step 5: Confirmation &amp; Digital Invoice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System creates transaction record (TXN-xxxxxxxx), confirms reservation, updates vehicle calendar, and renders printable digital invoice.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System Architecture &amp; 5-Tier Technology Stack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Modular separation of presentation, business logic, persistence, and test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50" b="1">
                <a:solidFill>
                  <a:srgbClr val="4338CA"/>
                </a:solidFill>
                <a:latin typeface="Calibri"/>
              </a:defRPr>
            </a:pPr>
            <a:r>
              <a:t>Layer 1: Test Automation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Selenium WebDriver 4.18+ with Chrome DevTools Protocol driving automated browser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50" b="1">
                <a:solidFill>
                  <a:srgbClr val="4338CA"/>
                </a:solidFill>
                <a:latin typeface="Calibri"/>
              </a:defRPr>
            </a:pPr>
            <a:r>
              <a:t>Layer 2: Frontend Presentation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HTML5, CSS3, Tailwind CSS, FontAwesome 6, and Vanilla JavaScript (ES6 Fetch Client)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50" b="1">
                <a:solidFill>
                  <a:srgbClr val="4338CA"/>
                </a:solidFill>
                <a:latin typeface="Calibri"/>
              </a:defRPr>
            </a:pPr>
            <a:r>
              <a:t>Layer 3: Application Server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Python 3.14 + Flask RESTful API server handling endpoints, JSON serialization, and CORS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50" b="1">
                <a:solidFill>
                  <a:srgbClr val="4338CA"/>
                </a:solidFill>
                <a:latin typeface="Calibri"/>
              </a:defRPr>
            </a:pPr>
            <a:r>
              <a:t>Layer 4: Security &amp; Middleware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JWT Token verification, Bcrypt password hashing, OTP generator, and Role Route Guards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50" b="1">
                <a:solidFill>
                  <a:srgbClr val="4338CA"/>
                </a:solidFill>
                <a:latin typeface="Calibri"/>
              </a:defRPr>
            </a:pPr>
            <a:r>
              <a:t>Layer 5: Database Persistence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MongoDB NoSQL document store (Port 27017) with auto-indexing via PyMongo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3951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Key Architectural &amp; Security Features</a:t>
            </a:r>
          </a:p>
          <a:p>
            <a:pPr>
              <a:spcBef>
                <a:spcPts val="800"/>
              </a:spcBef>
              <a:defRPr sz="1150" b="1">
                <a:solidFill>
                  <a:srgbClr val="0E7490"/>
                </a:solidFill>
                <a:latin typeface="Calibri"/>
              </a:defRPr>
            </a:pPr>
            <a:r>
              <a:t>• Stateless Token Security: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Calibri"/>
              </a:defRPr>
            </a:pPr>
            <a:r>
              <a:t>   All protected backend endpoints validate incoming Authorization headers using cryptographic JWT signatures. Expired or tampered tokens are rejected with HTTP 401.</a:t>
            </a:r>
          </a:p>
          <a:p>
            <a:pPr>
              <a:spcBef>
                <a:spcPts val="800"/>
              </a:spcBef>
              <a:defRPr sz="1150" b="1">
                <a:solidFill>
                  <a:srgbClr val="0E7490"/>
                </a:solidFill>
                <a:latin typeface="Calibri"/>
              </a:defRPr>
            </a:pPr>
            <a:r>
              <a:t>• NoSQL Data Schema Flexibility: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Calibri"/>
              </a:defRPr>
            </a:pPr>
            <a:r>
              <a:t>   MongoDB documents natively support embedded objects for booking add-ons, inspection checklists, damage cost breakdowns, and KYC image links.</a:t>
            </a:r>
          </a:p>
          <a:p>
            <a:pPr>
              <a:spcBef>
                <a:spcPts val="800"/>
              </a:spcBef>
              <a:defRPr sz="1150" b="1">
                <a:solidFill>
                  <a:srgbClr val="0E7490"/>
                </a:solidFill>
                <a:latin typeface="Calibri"/>
              </a:defRPr>
            </a:pPr>
            <a:r>
              <a:t>• Lightweight Pure-JS Client: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Calibri"/>
              </a:defRPr>
            </a:pPr>
            <a:r>
              <a:t>   The client runs zero heavy frontend frameworks; clean ES6 Vanilla JS with native Fetch API minimizes load times and simplifies DOM element location for Selenium.</a:t>
            </a:r>
          </a:p>
          <a:p>
            <a:pPr>
              <a:spcBef>
                <a:spcPts val="800"/>
              </a:spcBef>
              <a:defRPr sz="1150" b="1">
                <a:solidFill>
                  <a:srgbClr val="0E7490"/>
                </a:solidFill>
                <a:latin typeface="Calibri"/>
              </a:defRPr>
            </a:pPr>
            <a:r>
              <a:t>• Concurrent Local Dev Environment:</a:t>
            </a:r>
          </a:p>
          <a:p>
            <a:pPr>
              <a:spcBef>
                <a:spcPts val="200"/>
              </a:spcBef>
              <a:defRPr sz="980">
                <a:solidFill>
                  <a:srgbClr val="334155"/>
                </a:solidFill>
                <a:latin typeface="Calibri"/>
              </a:defRPr>
            </a:pPr>
            <a:r>
              <a:t>   Node.js concurrently script manages concurrent execution of the Flask REST backend (5000), frontend HTTP server (8000), and test runners seamlessly.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Selenium WebDriver: Testing Framework &amp; 7-Stage Workflow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Automated browser orchestration mimicking human interaction with strict state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300" b="1">
                <a:solidFill>
                  <a:srgbClr val="0E7490"/>
                </a:solidFill>
                <a:latin typeface="Calibri"/>
              </a:defRPr>
            </a:pPr>
            <a:r>
              <a:t>Selenium WebDriver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Calibri"/>
              </a:defRPr>
            </a:pPr>
            <a:r>
              <a:t>Direct programmatic browser communication via W3C WebDriver standard. Performs realistic keystrokes, button clicks, and DOM inspections.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300" b="1">
                <a:solidFill>
                  <a:srgbClr val="4338CA"/>
                </a:solidFill>
                <a:latin typeface="Calibri"/>
              </a:defRPr>
            </a:pPr>
            <a:r>
              <a:t>Python unittest Runner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Calibri"/>
              </a:defRPr>
            </a:pPr>
            <a:r>
              <a:t>Standardized test suite structure providing setUp/tearDown lifecycle hooks, assertion libraries, and granular error tracebacks.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300" b="1">
                <a:solidFill>
                  <a:srgbClr val="047857"/>
                </a:solidFill>
                <a:latin typeface="Calibri"/>
              </a:defRPr>
            </a:pPr>
            <a:r>
              <a:t>Explicit Synchronization</a:t>
            </a:r>
          </a:p>
          <a:p>
            <a:pPr>
              <a:spcBef>
                <a:spcPts val="400"/>
              </a:spcBef>
              <a:defRPr sz="980">
                <a:solidFill>
                  <a:srgbClr val="334155"/>
                </a:solidFill>
                <a:latin typeface="Calibri"/>
              </a:defRPr>
            </a:pPr>
            <a:r>
              <a:t>Dynamic WebDriverWait and ExpectedConditions prevent timing issues during asynchronous API fetch requests and modal transitions.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7-Stage Test Execution Lifecycle in Rental Wheels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371600" cy="1554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1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Launch</a:t>
            </a:r>
            <a:br/>
            <a:r>
              <a:t>Chrome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21408" y="4160520"/>
            <a:ext cx="146304" cy="228600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3566160"/>
            <a:ext cx="1371600" cy="1554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Navigate</a:t>
            </a:r>
            <a:br/>
            <a:r>
              <a:t>Page URL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75888" y="4160520"/>
            <a:ext cx="146304" cy="228600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3566160"/>
            <a:ext cx="1371600" cy="1554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Locate</a:t>
            </a:r>
            <a:br/>
            <a:r>
              <a:t>Elements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30368" y="4160520"/>
            <a:ext cx="146304" cy="228600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94959" y="3566160"/>
            <a:ext cx="1371600" cy="1554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Perform</a:t>
            </a:r>
            <a:br/>
            <a:r>
              <a:t>Actions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84847" y="4160520"/>
            <a:ext cx="146304" cy="228600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0" y="3566160"/>
            <a:ext cx="1371600" cy="1554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Await</a:t>
            </a:r>
            <a:br/>
            <a:r>
              <a:t>Response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39328" y="4160520"/>
            <a:ext cx="146304" cy="228600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3566160"/>
            <a:ext cx="1371600" cy="1554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6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Validate</a:t>
            </a:r>
            <a:br/>
            <a:r>
              <a:t>Assertions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893808" y="4160520"/>
            <a:ext cx="146304" cy="228600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0" y="3566160"/>
            <a:ext cx="1371600" cy="1554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000" b="1">
                <a:solidFill>
                  <a:srgbClr val="0E7490"/>
                </a:solidFill>
                <a:latin typeface="Calibri"/>
              </a:defRPr>
            </a:pPr>
            <a:r>
              <a:t>7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Teardown</a:t>
            </a:r>
            <a:br/>
            <a:r>
              <a:t>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725912" cy="731520"/>
          </a:xfrm>
          <a:prstGeom prst="roundRect">
            <a:avLst/>
          </a:prstGeom>
          <a:solidFill>
            <a:srgbClr val="ECFDF5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50" b="1">
                <a:solidFill>
                  <a:srgbClr val="047857"/>
                </a:solidFill>
                <a:latin typeface="Calibri"/>
              </a:defRPr>
            </a:pPr>
            <a:r>
              <a:t>⚡ Zero-Flakiness Guarantee: Tests dynamically wait for DOM presence (`By.ID`, `By.CSS_SELECTOR`), modal opacity transitions, and localStorage tokens rather than relying on brittle hardcoded timeouts.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150 Automated Test Cases: 15-Suite Test Matrix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Structured modular organization covering every functional domain (10 tests per suite)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40"/>
                <a:gridCol w="5029200"/>
                <a:gridCol w="130759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Suite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Suite Domain /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Test Scenarios Covered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Authentication &amp; KYC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Register tab toggle, login validation, OTP 2FA modal, KYC status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Vehicle Catalog &amp; Advanced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Class filters (SUV, Sedan, EV), dynamic price slider, keyword search, sorting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Reservation Engine &amp;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Rental date calculation, add-ons (GPS, child seat, insurance), coupon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Role Dashboards &amp; Desk 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Customer trip history, branch staff shift queue, admin KPI cards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Advanced Workflows &amp; Invoicing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Header navigation, outlet selector dropdown, digital printable invoices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Form Validation &amp; Edge 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Password minlength bounds, HTML5 email, 16-digit card limits, CVV masking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RBAC Security &amp; Role 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Guest access restrictions, multi-role signout, header role badge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Maintenance &amp; Fleet Desk 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Vehicle servicing status transitions, shift refresh, desk handover modals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Fleet Administration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Inventory table CRUD, add vehicle modal inputs, master booking audit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Cross-Flow User Journeys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Hero CTA buttons, transmission &amp; fuel filters, license auto-fill, footers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End-to-End Booking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Checkout query parameter routing, card payment, invoice reference, multi-addons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Security &amp; Negative Access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Bad password alerts, duplicate email registration, OTP length checks, titles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Staff Desk Handovers &amp;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Handover badge counts, vehicle checklist notes, return extra damage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Admin Fleet Inventory &amp; Controls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Add vehicle year/rate validation, fleet table badges, KYC pending counters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E7490"/>
                          </a:solidFill>
                          <a:latin typeface="Calibri"/>
                        </a:defRPr>
                      </a:pPr>
                      <a:r>
                        <a:t>Suite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Cross-Browser Responsive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Responsive rendering across Desktop (1280px), Tablet (768px), Mobile (375px)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10/10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E7490"/>
                </a:solidFill>
                <a:latin typeface="Calibri"/>
              </a:defRPr>
            </a:pPr>
            <a:r>
              <a:t>⭐ Complete Test Suite contains 150 Automated Test Cases organized into 15 Modular Suites (TC-01 to TC-150) — 100% Passed.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Negative Testing, Boundary Value Analysis &amp; Security Validations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Rigorously verifying edge-case resilience and zero invalid data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0E7490"/>
                </a:solidFill>
                <a:latin typeface="Calibri"/>
              </a:defRPr>
            </a:pPr>
            <a:r>
              <a:t>60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Positive Tests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Valid user journeys &amp; successful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50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Negative Tests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Invalid inputs, rejected forms, error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D97706"/>
                </a:solidFill>
                <a:latin typeface="Calibri"/>
              </a:defRPr>
            </a:pPr>
            <a:r>
              <a:t>25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Boundary Tests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Field length caps, price boundaries, 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4338CA"/>
                </a:solidFill>
                <a:latin typeface="Calibri"/>
              </a:defRPr>
            </a:pPr>
            <a:r>
              <a:t>15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Security Tests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RBAC route guards, token invalidation, OTP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725912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320040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Verified Boundary Values &amp; Security Validation Matrix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Password Length Bounds:  Password input &lt; 6 characters triggers immediate HTML5 minlength validation; submission is blocked before hitting network.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Card Number Maxlength Limit:  Card input field strictly caps entry at 16 characters via HTML maxlength and regex sanitizer, blocking buffer overrun or invalid card formats.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CVV Security Masking:  CVV input field is strictly configured with type='password' to obscure 3-digit security codes from shoulder surfing.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Booking Date Inversion:  Selecting a return date prior to the pickup date is rejected by date picker constraints, preventing negative rental day calculations.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Unauthorized RBAC Access:  Direct URL navigation by a Customer to /admin-dashboard.html or /staff-dashboard.html triggers route authorization blocks.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Duplicate Registration:  Attempting registration with an existing email address triggers an explicit duplicate account warning toast and leaves database clean.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Deep Dive: Automated Test Case Code Walkthrough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Actual test automation implementation from Suite 01 and Suite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217920" cy="4480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000" b="1">
                <a:solidFill>
                  <a:srgbClr val="94A3B8"/>
                </a:solidFill>
                <a:latin typeface="Courier New"/>
              </a:defRPr>
            </a:pPr>
            <a:r>
              <a:t># tests/selenium_suite/test_suite_01_auth_kyc.py</a:t>
            </a:r>
          </a:p>
          <a:p>
            <a:pPr>
              <a:defRPr sz="850">
                <a:solidFill>
                  <a:srgbClr val="60A5FA"/>
                </a:solidFill>
                <a:latin typeface="Courier New"/>
              </a:defRPr>
            </a:pPr>
            <a:r>
              <a:t>def test_03_customer_invalid_credentials_rejected(self):</a:t>
            </a:r>
          </a:p>
          <a:p>
            <a:pPr>
              <a:defRPr sz="850">
                <a:solidFill>
                  <a:srgbClr val="60A5FA"/>
                </a:solidFill>
                <a:latin typeface="Courier New"/>
              </a:defRPr>
            </a:pPr>
            <a:r>
              <a:t>    driver = self.driver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driver.get(f'{BASE_URL}/login.html')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time.sleep(1)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# Step 1: Locate elements and enter erroneous data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driver.find_element(By.ID, 'login-email').clear()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driver.find_element(By.ID, 'login-email').send_keys('invalid@user.com')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driver.find_element(By.ID, 'login-password').send_keys('wrongpassword')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driver.find_element(By.ID, 'btn-login-submit').click()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time.sleep(2)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# Step 2: Validate error toast is rendered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toast = driver.find_element(By.ID, 'toast-container')</a:t>
            </a:r>
          </a:p>
          <a:p>
            <a:pPr>
              <a:defRPr sz="850">
                <a:solidFill>
                  <a:srgbClr val="60A5FA"/>
                </a:solidFill>
                <a:latin typeface="Courier New"/>
              </a:defRPr>
            </a:pPr>
            <a:r>
              <a:t>    self.assertTrue(toast.is_displayed())</a:t>
            </a:r>
          </a:p>
          <a:p>
            <a:pPr>
              <a:defRPr sz="850">
                <a:solidFill>
                  <a:srgbClr val="60A5FA"/>
                </a:solidFill>
                <a:latin typeface="Courier New"/>
              </a:defRPr>
            </a:pPr>
            <a:r>
              <a:t>    self.assertIn('Invalid email or password', toast.text)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# Step 3: Assert page stays on login without token</a:t>
            </a:r>
          </a:p>
          <a:p>
            <a:pPr>
              <a:defRPr sz="850">
                <a:solidFill>
                  <a:srgbClr val="60A5FA"/>
                </a:solidFill>
                <a:latin typeface="Courier New"/>
              </a:defRPr>
            </a:pPr>
            <a:r>
              <a:t>    self.assertNotIn('customer-dashboard.html', driver.current_url)</a:t>
            </a:r>
          </a:p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    token = driver.execute_script('return localStorage.getItem("token");')</a:t>
            </a:r>
          </a:p>
          <a:p>
            <a:pPr>
              <a:defRPr sz="850">
                <a:solidFill>
                  <a:srgbClr val="60A5FA"/>
                </a:solidFill>
                <a:latin typeface="Courier New"/>
              </a:defRPr>
            </a:pPr>
            <a:r>
              <a:t>    self.assertIsNone(token)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23367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Step-by-Step Test Anatomy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1. Browser Navigation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Initializes clean Chrome instance and routes to the login page endpoint.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2. Input Emulation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Clears existing text and inputs invalid email and password via send_keys().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3. Action Triggering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Dispatches click event on the submit button to initiate API authorization.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4. DOM &amp; Storage Assertions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Verifies error toast appears in DOM, confirms URL has not navigated to dashboard, and executes JavaScript to verify token is null.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Staff Desk Inspection &amp; Maintenance Workflows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Automating vehicle check-out handovers, returns, and damage charge computations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45920"/>
            <a:ext cx="475488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1. Handover Queue &amp;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Branch staff reviews scheduled customer pickups. System validates that the customer's KYC driving license status is 'Verified' and payment is confirmed before unlocking the digital vehicle handover button.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754880" cy="3657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2. Vehicle Check-Out 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Staff records starting odometer mileage, verifies existing body condition, checks fuel level, and generates a digital handover timestamp before releasing the vehicle keys to the customer.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3931919"/>
            <a:ext cx="475488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3. Return Inspection &amp; Extra Charges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8911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Upon vehicle return, staff logs ending mileage and notes any new body damages or fuel shortages. The system automatically computes extra damage penalty fees and updates final billing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19"/>
            <a:ext cx="47548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4. Fleet Servicing &amp; 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19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If significant defects or routine service intervals are reached, staff transitions vehicle status from 'Returned' to 'Maintenance', instantly removing it from public catalog discovery until cleared.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Cross-Browser Responsive UI &amp; Integrity Testing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Automating viewport adaptability across Desktop, Tablet, and Mobile devices (Suite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00" b="1">
                <a:solidFill>
                  <a:srgbClr val="0E7490"/>
                </a:solidFill>
                <a:latin typeface="Calibri"/>
              </a:defRPr>
            </a:pPr>
            <a:r>
              <a:t>Desktop Viewport (1280 x 800)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Tests multi-column vehicle catalog grids, persistent filter sidebars, comprehensive table columns, and horizontal navigation bars with zero overflow.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00" b="1">
                <a:solidFill>
                  <a:srgbClr val="4338CA"/>
                </a:solidFill>
                <a:latin typeface="Calibri"/>
              </a:defRPr>
            </a:pPr>
            <a:r>
              <a:t>Tablet Viewport (768 x 1024)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Tests two-column grid transitions, fluid card wraps, modal dialog sizing, and touch-friendly button spacing across checkout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00" b="1">
                <a:solidFill>
                  <a:srgbClr val="047857"/>
                </a:solidFill>
                <a:latin typeface="Calibri"/>
              </a:defRPr>
            </a:pPr>
            <a:r>
              <a:t>Mobile Viewport (375 x 812)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Tests single-column stacked layouts, mobile hamburger navigation, responsive pricing cards, and secure modal viewports.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725912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320040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Visual Asset &amp; Data Integrity Checks in Suite 15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Image Source Validation (TC-144):  Selenium verifies every vehicle thumbnail has a valid non-empty 'src' attribute, preventing broken image placeholders.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Currency &amp; Unit Formatting (TC-148):  Asserts all rental vehicle price badges strictly conform to the expected format (e.g. '$85/day') across all pages.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Modal Backdrop Occlusion (TC-145):  Verifies modal background overlays properly dim parent DOM elements and prevent accidental background clicks.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Security Badges &amp; Shield Icons (TC-149):  Validates presence of 256-bit encrypted checkout indicator and trust badges on checkout pages.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Test Execution Metrics &amp; 100% Pass Verification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Empirical execution results across all 150 automated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114800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/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150 / 150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AUTOMATED TESTS PASSED</a:t>
            </a:r>
          </a:p>
          <a:p>
            <a:pPr algn="ctr">
              <a:spcBef>
                <a:spcPts val="1600"/>
              </a:spcBef>
              <a:defRPr sz="1200">
                <a:solidFill>
                  <a:srgbClr val="ECFDF5"/>
                </a:solidFill>
                <a:latin typeface="Calibri"/>
              </a:defRPr>
            </a:pPr>
            <a:r>
              <a:t>100% Success Rate</a:t>
            </a:r>
            <a:br/>
            <a:r>
              <a:t>0 Failures • 0 Regressions</a:t>
            </a:r>
            <a:br/>
            <a:r>
              <a:t>Execution Time: ~140 seconds</a:t>
            </a:r>
            <a:br/>
            <a:r>
              <a:t>Automated Chrome 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633679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 rIns="36576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Execution Commands &amp; Live Demo Setup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• Step 1: Start Backend REST API Server: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   venv\Scripts\python backend/run.py</a:t>
            </a:r>
            <a:br/>
            <a:r>
              <a:t>Runs Flask API on http://127.0.0.1:5000 with CORS &amp; JWT middleware enabled.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• Step 2: Start Frontend HTTP Server: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   python -m http.server 8000 --directory frontend</a:t>
            </a:r>
            <a:br/>
            <a:r>
              <a:t>Serves the web application on http://127.0.0.1:8000.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• Step 3: Execute Complete 150-Test Suite: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   .\venv\Scripts\python tests/selenium_suite/run_all_150_tests.py</a:t>
            </a:r>
            <a:br/>
            <a:r>
              <a:t>Executes all 15 suites in sequence and prints comprehensive execution summary.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Calibri"/>
              </a:defRPr>
            </a:pPr>
            <a:r>
              <a:t>• Step 4: Execute Any Individual Test Suite: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   .\venv\Scripts\python -m unittest tests/selenium_suite/test_suite_11_booking_lifecycle.py -v</a:t>
            </a:r>
            <a:br/>
            <a:r>
              <a:t>Allows instant targeted regression testing during active development.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640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Conclusion, Value Delivered &amp; Key Learnings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Summary of engineering accomplishments, testing takeaways, and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Rental Wheels Car Rental Web Application  |  Software Testing using Selenium WebDriver</a:t>
            </a:r>
          </a:p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28600"/>
          <a:lstStyle/>
          <a:p>
            <a:pPr algn="ctr">
              <a:defRPr sz="1300" b="1">
                <a:solidFill>
                  <a:srgbClr val="0E7490"/>
                </a:solidFill>
                <a:latin typeface="Calibri"/>
              </a:defRPr>
            </a:pPr>
            <a:r>
              <a:t>What We Engineered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A complete, production-ready car rental web platform supporting multi-role operations for Customers, Branch Staff, and Fleet Admins with dynamic pricing, KYC verification, and digital invoicing.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91440" cy="1645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28600"/>
          <a:lstStyle/>
          <a:p>
            <a:pPr algn="ctr">
              <a:defRPr sz="1300" b="1">
                <a:solidFill>
                  <a:srgbClr val="4338CA"/>
                </a:solidFill>
                <a:latin typeface="Calibri"/>
              </a:defRPr>
            </a:pPr>
            <a:r>
              <a:t>What We Tested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150 comprehensive Selenium WebDriver test cases across 15 modular suites verifying user journeys, negative error handling, boundary bounds, role-based security, and responsive layouts.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91440" cy="164592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28600"/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Critical Defects Prevented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Eliminated booking date collisions, blocked unverified KYC reservations, enforced 16-digit payment card limits, secured administrative routes against unauthorized access, and prevented layout overflows.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91440" cy="1645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4747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28600"/>
          <a:lstStyle/>
          <a:p>
            <a:pPr algn="ctr">
              <a:defRPr sz="1300" b="1">
                <a:solidFill>
                  <a:srgbClr val="047857"/>
                </a:solidFill>
                <a:latin typeface="Calibri"/>
              </a:defRPr>
            </a:pPr>
            <a:r>
              <a:t>Key Technical Learnings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Automated UI testing eliminates human testing fatigue. Replacing arbitrary sleep timers with explicit ExpectedConditions is essential for robust, zero-flakiness test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611880"/>
            <a:ext cx="91440" cy="1645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7490"/>
                </a:solidFill>
                <a:latin typeface="Calibri"/>
              </a:defRPr>
            </a:pPr>
            <a:r>
              <a:t>Thank You!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